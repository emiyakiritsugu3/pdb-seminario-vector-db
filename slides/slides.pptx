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D2FF"/>
                </a:solidFill>
              </a:defRPr>
            </a:pPr>
            <a:r>
              <a:t>Administracao e Otimizacao de</a:t>
            </a:r>
            <a:br/>
            <a:r>
              <a:t>Bancos de Dados Vetoriais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Aplicacoes de Inteligencia Artificial usando PostgreSQL (pgvector)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DCT2202 - Projeto e Administracao de Banco de Dados - T01 (2026.1)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Professor: Taciano de Morais Silva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Centro de Ensino Superior do Serido - CERES/UFRN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Equipe: Jose Inamar de Medeiros Junior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1.  O que sao Bancos Vetoriais?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2.  Metricas de Distancia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3.  PostgreSQL + pgvector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4.  Indices Vetoriais: IVFFlat vs HNSW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5.  HNSW em Detalhe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6.  Busca Hibrida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7.  Arquitetura RAG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8.  Benchmarks e Performance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9.  Configuracao do Ambiente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10. Demonstracao Pratica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11. Referencias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O que sao Bancos Vetoriais?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Embeddings: projecao de dados nao estruturados em espacos vetoriais continuos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Um embedding mapeia texto/imagem/audio em vetor de floats (384~3072 dimensoes)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Proximidade geometrica ~ similaridade semantica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Principais aplicacoes: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Sistemas de Recomendacao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RAG (Retrieval-Augmented Generation)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Busca semantica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Deteccao de similaridade/anomalias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Metricas de Distancia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Distancia Euclidiana (L2) | Operador: &lt;-&gt; | Distancia absoluta entre pontos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Produto Escalar (IP)     | Operador: &lt;#&gt; | Score de afinidade (MIPS)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Distancia de Cosseno     | Operador: &lt;=&gt; | Angulo entre vetores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Metrica         | Operador | Intervalo  | Melhor para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Euclidiana (L2)  |  &lt;-&gt;     | [0, inf)   | Embeddings normalizados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Produto Escalar  |  &lt;#&gt;     | (-inf,inf) | Recomendacao (MIPS)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Cosseno          |  &lt;=&gt;     | [0, 2]     | Texto LLMs (OpenAI, Cohere)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PostgreSQL + pgvector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Extensao nativa - sem banco vetorial separado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Transacoes ACID unificadas: dados relacionais + vetoriais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SQL padrao: integracao com filtros, joins, indexes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Seguranca: RLS, politicas de acesso, auditoria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Operadores pgvector: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&lt;-&gt;  Distancia Euclidiana L2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&lt;#&gt;  Produto Escalar Negativo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&lt;=&gt;  Distancia de Cosseno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Tipos: vector(n), halfvec (16-bit), bit (binario), sparsevec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Indices Vetoriais: IVFFlat vs HNSW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IVFFlat: Particiona espaco em clusters de Voronoi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-&gt; Busca: compara apenas clusters mais proximos (probes)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-&gt; Rapido de construir, recall inferior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HNSW: Grafo hierarquico multi-camadas (inspirado em skip lists)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-&gt; Camada 0: todos os nos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-&gt; Camadas superiores: subconjuntos esparsos (dec. exponencial)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-&gt; Parametros: m (conexoes), ef_construction, ef_search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Qual escolher?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HNSW para &gt;95% recall . IVFFlat para economia de RAM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HNSW - Hierarchical Navigable Small World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Estrutura: grafo de proximidade em camadas hierarquicas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Insercao: altura probabilistica (dec. exponencial)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Busca: greedy search do topo -&gt; base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Parametros de criacao: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m = 16 (conexoes por no, padrao)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ef_construction = 128 (qualidade da construcao)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Parametros de consulta: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ef_search = 40~200 (recall vs latencia)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A Maldicao da Dimensionalidade: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Dimensao intrinseca (LID) afeta recall do HNSW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Ordem de insercao pode degradar recall em ate 12.8pp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Busca Hibrida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Unifica SQL estruturado + similaridade vetorial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Estrategias: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Pre-filtering: filtro -&gt; KNN exato no subconjunto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Post-filtering: HNSW -&gt; filtro -&gt; pode perder resultados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Iterative Scan (pgvector 0.8+):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-&gt; Rastreia HNSW em ciclos, aplica filtros inline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  -&gt; Retoma travessia se LIMIT nao for atingido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Modos: off | strict_order | relaxed_order (recomendado)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Arquitetura RAG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Fluxo completo: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1. Documento -&gt; fragmentacao (chunking)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2. Cada chunk -&gt; embedding -&gt; armazena no pgvector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3. Pergunta do usuario -&gt; embedding -&gt; busca ANN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4. Chunks + pergunta -&gt; prompt -&gt; LLM -&gt; resposta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Vantagens do PostgreSQL para RAG: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Transacao unica: dado relacional + vetor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Zero inconsistencia (vs banco vetorial separado)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Filtragem multi-tenant via RLS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-&gt; Backup/PITR unificado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Benchmarks de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100k vetores (384 dims, float32):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Busca exata:     48 ms    recall 100%  21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HNSW ef=40:      3 ms     recall 98.5% 325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HNSW ef=100:     4 ms     recall 99.7% 240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IVFFlat:         5.5 ms   recall 94%   180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1M vetores (384 dims):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Busca exata:     650 ms    recall 100%  1.5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HNSW ef=40:      7 ms      recall 92%   142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HNSW ef=100:     15 ms     recall 98%   66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  IVFFlat:         45 ms     recall 91.5% 22 QPS</a:t>
            </a: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000">
                <a:solidFill>
                  <a:srgbClr val="FFFFFF"/>
                </a:solidFill>
              </a:defRPr>
            </a:pPr>
            <a:r>
              <a:t>Fonte: pgvector benchmarks (Mastra, Supabase)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Configuracao do Ambiente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Parametros recomendados no postgresql.conf: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shared_buffers = 256MB         # Cache de blocos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effective_cache_size = 768MB   # Cache do sistema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work_mem = 64MB                # Ordenacoes por sessao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maintenance_work_mem = 4GB     # Compilacao do HNSW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max_parallel_maintenance_workers = 4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Dimensionamento do indice HNSW: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RAM_indice = 1.2 x (d x 4 + m x 8) x 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Ex: 1M vetores 384d -&gt; ~2.2 GB RAM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Demonstracao Pratica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Infraestrutura: Docker Compose + PostgreSQL 16 + pgvector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Dados: 10 chunks sobre pgvector, embeddings all-MiniLM-L6-v2 (384d)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Roteiro: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1. Schema: tabelas documents + document_chunks com vector(384)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2. Indices: HNSW (cosine) + GIN (tsvector) + B-Tree (tenant)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3. Insercao: generate_embeddings.py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4. Busca hibrida: hybrid_search.py (vetorial + full-text)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  5. RAG pipeline: rag_pipeline.py</a:t>
            </a: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400">
                <a:solidFill>
                  <a:srgbClr val="FFFFFF"/>
                </a:solidFill>
              </a:defRPr>
            </a:pPr>
            <a:r>
              <a:t>Codigo disponivel em: [link do repositorio GitHub]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00D2FF"/>
                </a:solidFill>
              </a:defRPr>
            </a:pPr>
            <a:r>
              <a:t>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pgvector - Open-source vector similarity search for Postgres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https://github.com/pgvector/pgvector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Malkov &amp; Yashunin - HNSW (IEEE TPAMI, 2018)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https://arxiv.org/abs/1603.09320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Supabase - HNSW Indexes in pgvector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https://supabase.com/docs/guides/ai/vector-indexes/hnsw-indexes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Timescale - pgvectorscale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https://github.com/timescale/pgvectorscale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Mastra - Benchmarking pgvector RAG performance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https://mastra.ai/blog/pgvector-perf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PostgreSQL Documentation</a:t>
            </a:r>
          </a:p>
          <a:p>
            <a:pPr>
              <a:spcAft>
                <a:spcPts val="800"/>
              </a:spcAft>
              <a:defRPr sz="2200">
                <a:solidFill>
                  <a:srgbClr val="FFFFFF"/>
                </a:solidFill>
              </a:defRPr>
            </a:pPr>
            <a:r>
              <a:t>  https://www.postgresql.org/docs/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