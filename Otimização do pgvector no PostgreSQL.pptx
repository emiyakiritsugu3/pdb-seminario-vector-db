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us Jakarta Sans ExtraBold"/>
      <p:bold r:id="rId20"/>
      <p:boldItalic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Plus Jakarta Sans SemiBold"/>
      <p:regular r:id="rId26"/>
      <p:bold r:id="rId27"/>
      <p:italic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64C72B-4E46-4FBF-BC40-2DDCDC85A3FC}">
  <a:tblStyle styleId="{4864C72B-4E46-4FBF-BC40-2DDCDC85A3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PlusJakartaSansSemiBold-italic.fntdata"/><Relationship Id="rId27" Type="http://schemas.openxmlformats.org/officeDocument/2006/relationships/font" Target="fonts/PlusJakarta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.fntdata"/><Relationship Id="rId30" Type="http://schemas.openxmlformats.org/officeDocument/2006/relationships/font" Target="fonts/JetBrainsMono-regular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5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39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5287" y="1723132"/>
            <a:ext cx="3781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2266057"/>
            <a:ext cx="10001250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0F6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Administração de Bancos de Dados Vetoriais para </a:t>
            </a:r>
            <a:r>
              <a:rPr b="0" i="0" lang="en-US" sz="4800" u="none" cap="none" strike="noStrike">
                <a:solidFill>
                  <a:srgbClr val="34D39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Aplicações de 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563219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Guia de Engenharia para Alta Performance, Tuning Arquitetural e Modelagem Multitenant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4087"/>
            <a:ext cx="53721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24087"/>
            <a:ext cx="53721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671887"/>
            <a:ext cx="47815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00150" y="2519362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Projeção Semântica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2928937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Mapeamento de dados não estruturados (texto, imagem, áudio) em subespaços métricos contínuos de alta dimensionalidade.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4386262"/>
            <a:ext cx="47815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proximidade geométrica das coordenadas em um Espaço de Hilbert reflete diretamente a afinidade conceitual dos objetos reais.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876300" y="4243387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829425" y="2519362"/>
            <a:ext cx="4486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Maldição da Dimensionalidade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34150" y="2928937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À medida que a dimensão nominal cresce, a distância entre pontos tende a se unificar, reduzindo o poder discriminativo.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34150" y="3529012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Pesquisas comprovam que a eficácia aproximada do HNSW está ligada diretamente à </a:t>
            </a:r>
            <a:r>
              <a:rPr b="1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Dimensão Intrínseca Local (LID)</a:t>
            </a: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dos vetores.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34150" y="4614862"/>
            <a:ext cx="4781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Anomalias na ordenação de carga geram distorções topológicas, reduzindo o recall em até 12.8 pontos percentuais.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534150" y="4471987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4793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175" y="3802112"/>
            <a:ext cx="712291" cy="14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54793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dos Embeddings Vetoriais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6062"/>
            <a:ext cx="110299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590550" y="2795587"/>
            <a:ext cx="11010900" cy="2152650"/>
          </a:xfrm>
          <a:prstGeom prst="roundRect">
            <a:avLst>
              <a:gd fmla="val 0" name="adj"/>
            </a:avLst>
          </a:prstGeom>
          <a:solidFill>
            <a:srgbClr val="12181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15"/>
          <p:cNvGraphicFramePr/>
          <p:nvPr/>
        </p:nvGraphicFramePr>
        <p:xfrm>
          <a:off x="590550" y="2795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{4864C72B-4E46-4FBF-BC40-2DDCDC85A3FC}</a:tableStyleId>
              </a:tblPr>
              <a:tblGrid>
                <a:gridCol w="2048475"/>
                <a:gridCol w="1567000"/>
                <a:gridCol w="2488850"/>
                <a:gridCol w="4906575"/>
              </a:tblGrid>
              <a:tr h="5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Métrica de Distância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Operador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Sensibilidade à Magnitude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Caso de Uso em Produção de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</a:tr>
              <a:tr h="5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 (Euclidiana)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&lt;-&gt;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Dados geoespaciais e sensores físicos de escala absoluta.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Produto Escalar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&lt;#&gt;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(Ponderado)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Sistemas de Recomendação (MIPS) com pesos de interação.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Distância de Cosseno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&lt;=&gt;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Nula (Angular)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Modelos de Linguagem (LLMs), RAG, OpenAI e Cohere.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5"/>
          <p:cNvSpPr/>
          <p:nvPr/>
        </p:nvSpPr>
        <p:spPr>
          <a:xfrm>
            <a:off x="590550" y="3328987"/>
            <a:ext cx="2048470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639020" y="3328987"/>
            <a:ext cx="1567011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206031" y="3328987"/>
            <a:ext cx="2488852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694884" y="3328987"/>
            <a:ext cx="4906565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90550" y="3876675"/>
            <a:ext cx="204847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639020" y="3876675"/>
            <a:ext cx="156701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206031" y="3876675"/>
            <a:ext cx="2488852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694884" y="3876675"/>
            <a:ext cx="4906565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90550" y="4410075"/>
            <a:ext cx="204847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2639020" y="4410075"/>
            <a:ext cx="156701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206031" y="4410075"/>
            <a:ext cx="2488852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694884" y="4410075"/>
            <a:ext cx="4906565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 de Distância Críticas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4625"/>
            <a:ext cx="35242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714625"/>
            <a:ext cx="35242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714625"/>
            <a:ext cx="35242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76300" y="3581400"/>
            <a:ext cx="30803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Consistência ACID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3933825"/>
            <a:ext cx="2933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Persistência relacional clássica e novos embeddings residem no mesmo motor sob a mesma transação, eliminando falhas de sincronismo parcial.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629150" y="3581400"/>
            <a:ext cx="30803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Infraestrutura Única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29150" y="3933825"/>
            <a:ext cx="29337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Evita pipelines ETL assíncronos de sincronização com bancos vetoriais dedicados proprietários (ex: Pinecone), reduzindo o TCO.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82000" y="3581400"/>
            <a:ext cx="30803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 e Flexibilidade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382000" y="3933825"/>
            <a:ext cx="29337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Aplicações nativas de Junções SQL complexas, segurança em nível de linha (RLS) e consultas híbridas simplificadas.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0575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30575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0" y="30575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Escolha do PostgreSQL + pgvector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1365" y="1871662"/>
            <a:ext cx="425960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0890" y="1881187"/>
            <a:ext cx="4240559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09625" y="2719387"/>
            <a:ext cx="61607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Layout de Memória: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tipo vector é estruturado em C como um cabeçalho fixo seguido por um array consecutivo de floats de 32 bits.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3300412"/>
            <a:ext cx="61607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do TOAST: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Um vetor de 1536 dimensões consome exatamente 6152 bytes, ativando imediatamente o TOAST fora da página de 8 KB principal.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3871912"/>
            <a:ext cx="61607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Evolução 0.6.0+: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Transição do TOAST de </a:t>
            </a:r>
            <a:r>
              <a:rPr b="0" i="1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EXTENDED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</a:t>
            </a:r>
            <a:r>
              <a:rPr b="0" i="1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mitigar compressões inúteis de alta entropia.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09625" y="4443412"/>
            <a:ext cx="61607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Gargalos de Índice: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Limite rígido de 2.000 dimensões para indexação padrão float32. Modelos maiores exigem uso de halfvec.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81025" y="2719387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81025" y="3300412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81025" y="3871912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4443412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Armazenamento Físico de Vetores &amp; TOAST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90775"/>
            <a:ext cx="53721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90775"/>
            <a:ext cx="537210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200150" y="26860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Pré-filtragem (Pre-filtering)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76300" y="30956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Ocorre quando o filtro relacional (ex: ID do Tenant) possui altíssima seletividade e reduz drasticamente o escopo.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76300" y="369570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otimizador descarta o índice vetorial, roda escaneamento de B-Tree e realiza K-NN exato linear sobre o conjunto pequeno.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76300" y="4448175"/>
            <a:ext cx="4781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Garante 100% de recall e excelente performance para inquilinos pequenos.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876300" y="4305300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858000" y="26860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Escaneamento Iterativo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534150" y="30956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Introduzido na versão 0.8.0 para combater o problema de sobre-filtragem (</a:t>
            </a: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overfiltering</a:t>
            </a: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em filtros de baixa seletividade.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534150" y="369570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motor varre o grafo HNSW incrementally e valida relacionalmente os nós inline até atingir o limite.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534150" y="4438650"/>
            <a:ext cx="4781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Utilize hnsw.iterative_scan = 'relaxed_order' para o melhor throughput.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534150" y="4295775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146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7146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 Híbrida: Estratégias de Filtragem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52625"/>
            <a:ext cx="537210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52625"/>
            <a:ext cx="537210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171575" y="2247900"/>
            <a:ext cx="4486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IVFFlat (Inverted File)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76300" y="265747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 o espaço vetorial em partições usando o algoritmo de agrupamento K-Means (Células de Voronoi).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76300" y="4886325"/>
            <a:ext cx="4781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Indicado para ambientes com ciclos de carga frequentes e baixa memória.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876300" y="4743450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858000" y="224790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HNSW (Hierarchical Graph)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34150" y="265747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Grafos de proximidade multinível inspirados probabilisticamente em skip lists.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34150" y="4886325"/>
            <a:ext cx="4781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Recomendado para ambientes RAG de alta fidelidade e leitura constante.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534150" y="4743450"/>
            <a:ext cx="47815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27647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1104900" y="325755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Compilação de índice ultra-rápida e baixíssimo consumo de memória.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104900" y="3829050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 confinada a probes selecionados.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104900" y="4171950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Degradação de performance sob dados desbalanceados.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2764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762750" y="325755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Complexidade O(log N) em travessias gananciosas na Camada 0.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762750" y="3829050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Retém taxas altíssimas de recall e QPS.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762750" y="417195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Exige carregamento total em RAM física para evitar paginação degradante.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76300" y="32575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76300" y="38290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76300" y="41719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534150" y="32575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534150" y="38290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534150" y="41719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Índices Vetoriais: HNSW vs IVFFlat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47826"/>
            <a:ext cx="425946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238351"/>
            <a:ext cx="347841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971550" y="4286101"/>
            <a:ext cx="34784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HNSW.EF_SEARCH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221485" y="2817465"/>
            <a:ext cx="638948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Diferente dos parâmetros de construção (que exigem recompilação do índice), a variável de sessão </a:t>
            </a:r>
            <a:r>
              <a:rPr b="1" i="0" lang="en-US" sz="13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hnsw.ef_search</a:t>
            </a:r>
            <a:r>
              <a:rPr b="0" i="0" lang="en-US" sz="13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governa a fila de prioridades durante a busca online.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450085" y="3783210"/>
            <a:ext cx="616088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Maximização de Vazão (QPS):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Valores baixos (ex: 16-32) aceleram buscas, ideais para auto-complete rápidos e ambientes concorrentes.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450085" y="4354710"/>
            <a:ext cx="616088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Maximização de Recall: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Ajustar para 100-200 força varreduras amplas de grafo, prevenindo que vizinhos importantes sejam ignorados.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221485" y="378321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5221485" y="435471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Sintonia do HNSW em Tempo de Execução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0287"/>
            <a:ext cx="110299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590550" y="2309812"/>
            <a:ext cx="11010900" cy="3124200"/>
          </a:xfrm>
          <a:prstGeom prst="roundRect">
            <a:avLst>
              <a:gd fmla="val 0" name="adj"/>
            </a:avLst>
          </a:prstGeom>
          <a:solidFill>
            <a:srgbClr val="12181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590550" y="2309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{4864C72B-4E46-4FBF-BC40-2DDCDC85A3FC}</a:tableStyleId>
              </a:tblPr>
              <a:tblGrid>
                <a:gridCol w="2033150"/>
                <a:gridCol w="1984025"/>
                <a:gridCol w="1812575"/>
                <a:gridCol w="2841425"/>
                <a:gridCol w="2339725"/>
              </a:tblGrid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de Vetores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Dimensões (d)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Conexões (m)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Tamanho Bruto Estimado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RAM Mínima Segura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81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100.000 (100k)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768 (ex: BERT)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~43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~52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100.000 (100k)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1536 (ex: OpenAI)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~75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~90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1.000.000 (1M)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~435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~522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1.000.000 (1M)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~742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~890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1.000.000 (1M)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~864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0F6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~1.03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21"/>
          <p:cNvSpPr/>
          <p:nvPr/>
        </p:nvSpPr>
        <p:spPr>
          <a:xfrm>
            <a:off x="590550" y="2843212"/>
            <a:ext cx="2033141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2623691" y="2843212"/>
            <a:ext cx="1984027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607718" y="2843212"/>
            <a:ext cx="1812577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420296" y="2843212"/>
            <a:ext cx="2841426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9261723" y="2843212"/>
            <a:ext cx="2339726" cy="19050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90550" y="3371850"/>
            <a:ext cx="203314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623691" y="3371850"/>
            <a:ext cx="198402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607718" y="3371850"/>
            <a:ext cx="181257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420296" y="3371850"/>
            <a:ext cx="28414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9261723" y="3371850"/>
            <a:ext cx="23397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90550" y="3886200"/>
            <a:ext cx="203314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2623691" y="3886200"/>
            <a:ext cx="198402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607718" y="3886200"/>
            <a:ext cx="181257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420296" y="3886200"/>
            <a:ext cx="28414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9261723" y="3886200"/>
            <a:ext cx="23397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90550" y="4400550"/>
            <a:ext cx="203314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623691" y="4400550"/>
            <a:ext cx="198402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607718" y="4400550"/>
            <a:ext cx="181257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420296" y="4400550"/>
            <a:ext cx="28414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9261723" y="4400550"/>
            <a:ext cx="23397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90550" y="4914900"/>
            <a:ext cx="2033141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623691" y="4914900"/>
            <a:ext cx="198402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607718" y="4914900"/>
            <a:ext cx="1812577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420296" y="4914900"/>
            <a:ext cx="28414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9261723" y="4914900"/>
            <a:ext cx="2339726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Dimensionamento de RAM para HNSW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110299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581025" y="500062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busca sequencial clássica exibe degradação linear estrita (~650ms/query), justificando o uso de algoritmos aproximados para volumes de dados acima de 50.000 registros.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Benchmarks de Escrita &amp; Busca (1M Vetores)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33935"/>
            <a:ext cx="5372100" cy="2875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33935"/>
            <a:ext cx="5372100" cy="2875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234035"/>
            <a:ext cx="4781550" cy="997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3234035"/>
            <a:ext cx="4781550" cy="117097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171575" y="2729210"/>
            <a:ext cx="4486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de Tabelas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76300" y="4327028"/>
            <a:ext cx="4781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Indique índices B-Tree específicos em tenant_id e HNSW na coluna embedding.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915150" y="2729210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Backend (Python)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534150" y="4500264"/>
            <a:ext cx="47815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Registrado com register_vector() no driver Psycopg3 para integração de objetos float32 direto em Python.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75778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1028700" y="338643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TABLE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3771900" y="3386435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BIGSERIAL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4533900" y="3386435"/>
            <a:ext cx="838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PRIMARY KEY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2095500" y="3559671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BIGINT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2628900" y="3559671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REFERENCES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028700" y="3732907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vector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3009900" y="3732907"/>
            <a:ext cx="304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UUID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3390900" y="3732907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NULL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28700" y="3906142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tsvector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714500" y="3906142"/>
            <a:ext cx="1447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GENERATED ALWAYS AS</a:t>
            </a:r>
            <a:endParaRPr/>
          </a:p>
        </p:txBody>
      </p:sp>
      <p:pic>
        <p:nvPicPr>
          <p:cNvPr descr="image.png" id="303" name="Google Shape;30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75778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6686550" y="3386435"/>
            <a:ext cx="2971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Força uso de busca iterativa relaxada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686550" y="3386435"/>
            <a:ext cx="4267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"SET LOCAL hnsw.ef_search = 100;"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686550" y="3559671"/>
            <a:ext cx="3962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"SET LOCAL hnsw.iterative_scan = 'relaxed_order';"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686550" y="3732907"/>
            <a:ext cx="4343400" cy="508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 SELECT id, content FROM document_chunks WHERE tenant_id = %s ORDER BY embedding &lt;=&gt; %s LIMIT %s; """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Modelagem de Banco RAG Multi-Tenant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3833" y="2347912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408" y="2376487"/>
            <a:ext cx="2990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4751040" y="2628900"/>
            <a:ext cx="7202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Transição para o pgvectorscale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4751040" y="3028950"/>
            <a:ext cx="68597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Ao cruzar a barreira de dezenas de milhões de vetores, manter o grafo HNSW inteiramente em RAM torna-se financeiramente inviável para muitas infraestruturas.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4979640" y="3629025"/>
            <a:ext cx="66311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StreamingDiskANN: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Introduz o algoritmo Vamana, projetado para alocar o grafo diretamente em SSDs NVMe de alto desempenho.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4979640" y="4200525"/>
            <a:ext cx="66311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Quantização Binária Estatística (SBQ):</a:t>
            </a: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Compacta dados semânticos em RAM para processamento inicial, reduzindo custos de hardware em até 95%.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4979640" y="4772025"/>
            <a:ext cx="66311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Mantém latências de sub-milissegundos com alta confiabilidade de recall.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4751040" y="362902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4751040" y="420052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4751040" y="477202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Escalabilidade Massiva: &gt;10M de Vetores</a:t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/>
          <p:nvPr/>
        </p:nvSpPr>
        <p:spPr>
          <a:xfrm>
            <a:off x="581025" y="30194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581025" y="301942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581025" y="37814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81025" y="37814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581025" y="37909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descr="image.png" id="337" name="Google Shape;3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62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1676400" y="31694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https://www.supermicro.com/sites/default/files/content_resources/static_resources/glossary/glossary_supermicro-data-center-server-setup.png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1676400" y="34028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www.supermicro.com</a:t>
            </a:r>
            <a:endParaRPr/>
          </a:p>
        </p:txBody>
      </p:sp>
      <p:pic>
        <p:nvPicPr>
          <p:cNvPr descr="image.png" id="340" name="Google Shape;3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19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 txBox="1"/>
          <p:nvPr/>
        </p:nvSpPr>
        <p:spPr>
          <a:xfrm>
            <a:off x="1676400" y="393382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https://static.vecteezy.com/system/resources/previews/070/465/437/non_2x/network-of-interconnected-nodes-and-edges-showcasing-modern-design-shades-of-purple-this-abstract-representation-symbolizes-connectivity-technology-and-data-flow-evoking-sense-of-innovation-png.png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1676400" y="435292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www.vecteezy.com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581025" y="1076325"/>
            <a:ext cx="11029950" cy="9525"/>
          </a:xfrm>
          <a:prstGeom prst="rect">
            <a:avLst/>
          </a:prstGeom>
          <a:solidFill>
            <a:srgbClr val="232D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